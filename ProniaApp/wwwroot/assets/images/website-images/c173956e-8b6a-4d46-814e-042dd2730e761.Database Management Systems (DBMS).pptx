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Proxima Nova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regular.fntdata"/><Relationship Id="rId25" Type="http://schemas.openxmlformats.org/officeDocument/2006/relationships/slide" Target="slides/slide20.xml"/><Relationship Id="rId28" Type="http://schemas.openxmlformats.org/officeDocument/2006/relationships/font" Target="fonts/ProximaNova-italic.fntdata"/><Relationship Id="rId27" Type="http://schemas.openxmlformats.org/officeDocument/2006/relationships/font" Target="fonts/ProximaNov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roximaNova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e70aef5392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e70aef5392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e70aef5392_0_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e70aef539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e70aef53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e70aef53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e70aef539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e70aef539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e70aef539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e70aef539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e70aef539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e70aef539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e70aef5392_0_5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e70aef539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e70aef5392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e70aef5392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e70aef5392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e70aef5392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ea0df3eb9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ea0df3eb9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TABLE Students(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Id int identity primary key,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Name nvarchar(100) not null,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Surname nvarchar(100),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Age int check(Age&lt;100),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Email nvarchar(255) unique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function: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LEN(Name) 'Length',Name FROM Students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CHARINDEX('@',Email),Email FROM Students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SUBSTRING(Email,1,3),Email FROM Students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SUBSTRING(Email,1,CHARINDEX('@',Email)-1),Email FROM Students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SUBSTRING(Email,CHARINDEX('@',Email)+1,LEN(Email)),Email FROM Students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SUM(AGE) FROM Students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AVG(AGE) FROM Students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MIN(AGE) FROM Students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MAX(AGE) FROM Students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e70aef5392_0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e70aef539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e70aef539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e70aef539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e70aef5392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e70aef539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e70aef5392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e70aef539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e70aef5392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e70aef539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e70aef5392_0_6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e70aef539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--inner join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SELECT CityName 'City',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   ct.Population 'City Population',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   CountryName 'Country',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   c.Population 'Country Population'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Cities ct JOIN Countries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ct.CountryId=c.Id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--LEFT OUTER JOIN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SELECT CityName 'City',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   ct.Population 'City Population',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   CountryName 'Country',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   c.Population 'Country Population'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Cities ct LEFT JOIN Countries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ct.CountryId=c.Id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--RIGHT OUTER JOIN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SELECT CityName 'City',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   ct.Population 'City Population',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   CountryName 'Country',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   c.Population 'Country Population'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Cities ct RIGHT JOIN Countries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ct.CountryId=c.Id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--FULL OUTER JOIN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SELECT CityName 'City',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   ct.Population 'City Population',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   CountryName 'Country',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   c.Population 'Country Population'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FROM Cities ct FULL JOIN Countries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ct.CountryId=c.Id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--SELF JOIN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TABLE Ranks(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Id int identity primary key,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Position nvarchar(255) not null,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Dependency 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SELECT r1.Position,r2.Position 'Dependency' FROM Ranks r1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LEFT JOIN Ranks r2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r1.Dependency=r2.Id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--NON-EQUAL JOIN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ALTER TABLE Students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 Score int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TABLE Grades(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Id int identity primary key,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MinGrade int,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MaxGrade int,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Letter nchar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SELECT Name,Surname,Age,Email,Score,Letter FROM Students 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JOIN Grades 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st.Score BETWEEN g.MinGrade AND g.MaxGrade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--cross join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TABLE Products(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Id int identity primary key,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Name nvarchar(100) not null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TABLE Sizes(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Id int identity primary key,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Size nvarchar(10) not null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SELECT Name 'Product',Size FROM Products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CROSS JOIN Sizes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--query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TABLE GroupTypes(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Id int identity primary key,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Name nvarchar(100) not null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TABLE Groups(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Id int identity primary key,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Name nvarchar(100) not null,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GroupTypeId int references GroupTypes(Id)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TABLE StudentGroups(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Id int identity primary key,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GroupId int references Groups(Id),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StudentId int references Students(Id)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ea0df3eb9b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ea0df3eb9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 and pros, 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ea0df3eb9b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ea0df3eb9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 and pros,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ea0df3eb9b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ea0df3eb9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 and pros,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ea0df3eb9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ea0df3eb9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w3schools.com/sql/sql_notnull.asp" TargetMode="External"/><Relationship Id="rId4" Type="http://schemas.openxmlformats.org/officeDocument/2006/relationships/hyperlink" Target="https://www.w3schools.com/sql/sql_unique.asp" TargetMode="External"/><Relationship Id="rId5" Type="http://schemas.openxmlformats.org/officeDocument/2006/relationships/hyperlink" Target="https://www.w3schools.com/sql/sql_primarykey.asp" TargetMode="External"/><Relationship Id="rId6" Type="http://schemas.openxmlformats.org/officeDocument/2006/relationships/hyperlink" Target="https://www.w3schools.com/sql/sql_foreignkey.asp" TargetMode="External"/><Relationship Id="rId7" Type="http://schemas.openxmlformats.org/officeDocument/2006/relationships/hyperlink" Target="https://www.w3schools.com/sql/sql_check.asp" TargetMode="External"/><Relationship Id="rId8" Type="http://schemas.openxmlformats.org/officeDocument/2006/relationships/hyperlink" Target="https://www.w3schools.com/sql/sql_default.asp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fmhelp.filemaker.com/help/18/fmp/en/FMP_Help/glossary.html#ww1028030" TargetMode="External"/><Relationship Id="rId4" Type="http://schemas.openxmlformats.org/officeDocument/2006/relationships/hyperlink" Target="https://fmhelp.filemaker.com/help/18/fmp/en/FMP_Help/glossary.html#ww1045562" TargetMode="External"/><Relationship Id="rId5" Type="http://schemas.openxmlformats.org/officeDocument/2006/relationships/image" Target="../media/image16.png"/><Relationship Id="rId6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fmhelp.filemaker.com/help/18/fmp/en/FMP_Help/glossary.html#ww1028030" TargetMode="External"/><Relationship Id="rId4" Type="http://schemas.openxmlformats.org/officeDocument/2006/relationships/hyperlink" Target="https://fmhelp.filemaker.com/help/18/fmp/en/FMP_Help/glossary.html#ww1045562" TargetMode="External"/><Relationship Id="rId5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fmhelp.filemaker.com/help/18/fmp/en/FMP_Help/glossary.html#ww1028030" TargetMode="External"/><Relationship Id="rId4" Type="http://schemas.openxmlformats.org/officeDocument/2006/relationships/hyperlink" Target="https://fmhelp.filemaker.com/help/18/fmp/en/FMP_Help/glossary.html#ww1045562" TargetMode="External"/><Relationship Id="rId5" Type="http://schemas.openxmlformats.org/officeDocument/2006/relationships/image" Target="../media/image8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gif"/><Relationship Id="rId4" Type="http://schemas.openxmlformats.org/officeDocument/2006/relationships/image" Target="../media/image2.gif"/><Relationship Id="rId5" Type="http://schemas.openxmlformats.org/officeDocument/2006/relationships/image" Target="../media/image13.gif"/><Relationship Id="rId6" Type="http://schemas.openxmlformats.org/officeDocument/2006/relationships/image" Target="../media/image9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Proxima Nova"/>
                <a:ea typeface="Proxima Nova"/>
                <a:cs typeface="Proxima Nova"/>
                <a:sym typeface="Proxima Nova"/>
              </a:rPr>
              <a:t>Databases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8772" y="2900300"/>
            <a:ext cx="3086451" cy="96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199050" y="1003225"/>
            <a:ext cx="8814000" cy="228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SQL </a:t>
            </a:r>
            <a:r>
              <a:rPr lang="en"/>
              <a:t>- Structured Query Language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</a:rPr>
              <a:t>Database Management Systems (DBMS)</a:t>
            </a:r>
            <a:endParaRPr sz="3600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Relational Database Management System (RDBMS)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NoSQL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265500" y="562450"/>
            <a:ext cx="4045200" cy="276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Relational Database Management Systems</a:t>
            </a:r>
            <a:endParaRPr/>
          </a:p>
        </p:txBody>
      </p:sp>
      <p:sp>
        <p:nvSpPr>
          <p:cNvPr id="72" name="Google Shape;72;p16"/>
          <p:cNvSpPr txBox="1"/>
          <p:nvPr>
            <p:ph idx="2" type="body"/>
          </p:nvPr>
        </p:nvSpPr>
        <p:spPr>
          <a:xfrm>
            <a:off x="4734825" y="6720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Oracle database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PostgreSQL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MySQL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Microsoft SQL Server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SQLite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/>
              <a:t>H2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265500" y="562450"/>
            <a:ext cx="4045200" cy="28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NoSQL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types</a:t>
            </a:r>
            <a:endParaRPr/>
          </a:p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939500" y="125800"/>
            <a:ext cx="3837000" cy="42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Column-oriented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Apache Cassandra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Document Store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MongoDB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Key Value Store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Redis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Graph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NEO4J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557325" y="252600"/>
            <a:ext cx="8398500" cy="46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DDL - Data Definition Language</a:t>
            </a:r>
            <a:endParaRPr b="1" sz="3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CREATE / ALTER / DROP / TRUNCATE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DML - Data Manipulation Language</a:t>
            </a:r>
            <a:endParaRPr b="1" sz="3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I</a:t>
            </a:r>
            <a:r>
              <a:rPr lang="en" sz="2400"/>
              <a:t>N</a:t>
            </a:r>
            <a:r>
              <a:rPr lang="en" sz="2400"/>
              <a:t>SERT / UPDATE / DELETE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DQL - Data Query Language</a:t>
            </a:r>
            <a:endParaRPr b="1" sz="3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/>
              <a:t>SELECT</a:t>
            </a:r>
            <a:endParaRPr b="1"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DCL - Data Control Language</a:t>
            </a:r>
            <a:endParaRPr b="1" sz="3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Grant / Reverk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TCL - Transaction Control Language</a:t>
            </a:r>
            <a:endParaRPr b="1"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	</a:t>
            </a:r>
            <a:r>
              <a:rPr lang="en" sz="2400"/>
              <a:t>Commit / Rollback</a:t>
            </a:r>
            <a:endParaRPr b="1"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idx="4294967295" type="title"/>
          </p:nvPr>
        </p:nvSpPr>
        <p:spPr>
          <a:xfrm>
            <a:off x="319650" y="230050"/>
            <a:ext cx="4084500" cy="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Let’s experiment</a:t>
            </a:r>
            <a:endParaRPr sz="3600"/>
          </a:p>
        </p:txBody>
      </p:sp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9600" y="1014150"/>
            <a:ext cx="5444925" cy="387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DDL</a:t>
            </a:r>
            <a:endParaRPr sz="3600"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1576750" y="1017725"/>
            <a:ext cx="8520600" cy="412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/>
              <a:t>CREATE DATABASE Db</a:t>
            </a:r>
            <a:endParaRPr sz="3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/>
              <a:t>DROP DATABASE Db</a:t>
            </a:r>
            <a:endParaRPr sz="3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/>
              <a:t>USE Db</a:t>
            </a:r>
            <a:endParaRPr sz="3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/>
              <a:t>CREATE TABLE Students(</a:t>
            </a:r>
            <a:endParaRPr sz="3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/>
              <a:t>	Id int,</a:t>
            </a:r>
            <a:endParaRPr sz="3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/>
              <a:t>	Name nvarchar(50),</a:t>
            </a:r>
            <a:endParaRPr sz="3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/>
              <a:t>	Surname nvarchar(100)</a:t>
            </a:r>
            <a:endParaRPr sz="3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/>
              <a:t>)</a:t>
            </a:r>
            <a:endParaRPr sz="3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/>
              <a:t>DROP TABLE Students</a:t>
            </a:r>
            <a:endParaRPr sz="3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200"/>
              <a:t>ALTER TABLE Students </a:t>
            </a:r>
            <a:endParaRPr sz="3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200"/>
              <a:t>ADD Age int,City nvarchar(50)</a:t>
            </a:r>
            <a:endParaRPr sz="3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200"/>
              <a:t>ALTER TABLE Students</a:t>
            </a:r>
            <a:endParaRPr sz="3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/>
              <a:t>DROP COLUMN Age</a:t>
            </a:r>
            <a:endParaRPr sz="3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/>
              <a:t>EXEC sp_rename Stu,Students</a:t>
            </a:r>
            <a:endParaRPr sz="32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" sz="3200"/>
              <a:t>EXEC sp_rename 'Students.Surname',Lastname</a:t>
            </a:r>
            <a:endParaRPr sz="320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DML</a:t>
            </a:r>
            <a:endParaRPr sz="3600"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1444450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INSERT INTO Students</a:t>
            </a:r>
            <a:endParaRPr sz="3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/>
              <a:t>VALUES(1,'Orkhan','Abdullayev',24,'Sumqayit'),</a:t>
            </a:r>
            <a:endParaRPr sz="3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/>
              <a:t>	   (2,'Test','Testov',24,'Baki'),</a:t>
            </a:r>
            <a:endParaRPr sz="3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/>
              <a:t>	   (4,'Orkhan','Abdullayev',24,'Sumqayit')</a:t>
            </a:r>
            <a:endParaRPr sz="3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/>
              <a:t>INSERT INTO Students (Id,Name,Lastname)</a:t>
            </a:r>
            <a:endParaRPr sz="3600"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/>
              <a:t>VALUES(2,'Agha','Dadash')</a:t>
            </a:r>
            <a:endParaRPr sz="3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/>
              <a:t>SELECT * FROM Students WHERE Lastname LIKE '%la%'</a:t>
            </a:r>
            <a:endParaRPr sz="3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/>
              <a:t>SELECT Id 'Number',Name 'Firstname' FROM Students</a:t>
            </a:r>
            <a:endParaRPr sz="3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/>
              <a:t>UPDATE Students SET Lastname='Main Hesenli' Where Id=2</a:t>
            </a:r>
            <a:endParaRPr sz="3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600"/>
              <a:t>DELETE FROM Students WHERE Id=2</a:t>
            </a:r>
            <a:endParaRPr sz="3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highlight>
                  <a:srgbClr val="FFFFFF"/>
                </a:highlight>
              </a:rPr>
              <a:t>SQL Constraints</a:t>
            </a:r>
            <a:endParaRPr sz="240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1396375"/>
            <a:ext cx="8520600" cy="31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-336550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Char char="●"/>
            </a:pPr>
            <a:r>
              <a:rPr lang="en" sz="6800" u="sng">
                <a:solidFill>
                  <a:schemeClr val="hlink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NOT NULL</a:t>
            </a:r>
            <a:r>
              <a:rPr lang="en" sz="68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- Ensures that a column cannot have a NULL value</a:t>
            </a:r>
            <a:endParaRPr sz="68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Char char="●"/>
            </a:pPr>
            <a:r>
              <a:rPr lang="en" sz="6800" u="sng">
                <a:solidFill>
                  <a:schemeClr val="hlink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UNIQUE</a:t>
            </a:r>
            <a:r>
              <a:rPr lang="en" sz="68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- Ensures that all values in a column are different</a:t>
            </a:r>
            <a:endParaRPr sz="68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Char char="●"/>
            </a:pPr>
            <a:r>
              <a:rPr lang="en" sz="6800" u="sng">
                <a:solidFill>
                  <a:schemeClr val="hlink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PRIMARY KEY</a:t>
            </a:r>
            <a:r>
              <a:rPr lang="en" sz="68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- A combination of a </a:t>
            </a:r>
            <a:r>
              <a:rPr lang="en" sz="68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NOT NULL</a:t>
            </a:r>
            <a:r>
              <a:rPr lang="en" sz="68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and </a:t>
            </a:r>
            <a:r>
              <a:rPr lang="en" sz="68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UNIQUE</a:t>
            </a:r>
            <a:r>
              <a:rPr lang="en" sz="68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. Uniquely identifies each row in a table</a:t>
            </a:r>
            <a:endParaRPr sz="68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Char char="●"/>
            </a:pPr>
            <a:r>
              <a:rPr lang="en" sz="6800" u="sng">
                <a:solidFill>
                  <a:schemeClr val="hlink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  <a:hlinkClick r:id="rId6"/>
              </a:rPr>
              <a:t>FOREIGN KEY</a:t>
            </a:r>
            <a:r>
              <a:rPr lang="en" sz="68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- Prevents actions that would destroy links between tables</a:t>
            </a:r>
            <a:endParaRPr sz="68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Char char="●"/>
            </a:pPr>
            <a:r>
              <a:rPr lang="en" sz="6800" u="sng">
                <a:solidFill>
                  <a:schemeClr val="hlink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  <a:hlinkClick r:id="rId7"/>
              </a:rPr>
              <a:t>CHECK</a:t>
            </a:r>
            <a:r>
              <a:rPr lang="en" sz="68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- Ensures that the values in a column satisfies a specific condition</a:t>
            </a:r>
            <a:endParaRPr sz="68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erdana"/>
              <a:buChar char="●"/>
            </a:pPr>
            <a:r>
              <a:rPr lang="en" sz="6800" u="sng">
                <a:solidFill>
                  <a:schemeClr val="hlink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  <a:hlinkClick r:id="rId8"/>
              </a:rPr>
              <a:t>DEFAULT</a:t>
            </a:r>
            <a:r>
              <a:rPr lang="en" sz="68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- Sets a default value for a column if no value is specified</a:t>
            </a:r>
            <a:endParaRPr sz="68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45125" y="302700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Forms in DBMS</a:t>
            </a:r>
            <a:endParaRPr/>
          </a:p>
        </p:txBody>
      </p:sp>
      <p:pic>
        <p:nvPicPr>
          <p:cNvPr id="113" name="Google Shape;11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0825" y="638075"/>
            <a:ext cx="4344074" cy="326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588" y="2301901"/>
            <a:ext cx="4340265" cy="2442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12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PK - Primary key 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FK - Foreign key</a:t>
            </a:r>
            <a:endParaRPr sz="3600"/>
          </a:p>
        </p:txBody>
      </p:sp>
      <p:pic>
        <p:nvPicPr>
          <p:cNvPr id="120" name="Google Shape;12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5575" y="1759625"/>
            <a:ext cx="6543700" cy="29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One-to-one</a:t>
            </a:r>
            <a:endParaRPr/>
          </a:p>
        </p:txBody>
      </p:sp>
      <p:sp>
        <p:nvSpPr>
          <p:cNvPr id="126" name="Google Shape;126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One </a:t>
            </a:r>
            <a:r>
              <a:rPr lang="en" sz="1800" u="sng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record</a:t>
            </a: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 a </a:t>
            </a:r>
            <a:r>
              <a:rPr lang="en" sz="1800" u="sng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</a:t>
            </a: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is associated with one and only one record in another table.</a:t>
            </a:r>
            <a:endParaRPr sz="1800"/>
          </a:p>
        </p:txBody>
      </p:sp>
      <p:pic>
        <p:nvPicPr>
          <p:cNvPr id="127" name="Google Shape;12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4325" y="2620875"/>
            <a:ext cx="4306350" cy="164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4325" y="351275"/>
            <a:ext cx="4235250" cy="155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One-to-many</a:t>
            </a:r>
            <a:endParaRPr/>
          </a:p>
        </p:txBody>
      </p:sp>
      <p:sp>
        <p:nvSpPr>
          <p:cNvPr id="134" name="Google Shape;134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One </a:t>
            </a:r>
            <a:r>
              <a:rPr lang="en" sz="1800" u="sng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record</a:t>
            </a: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 a </a:t>
            </a:r>
            <a:r>
              <a:rPr lang="en" sz="1800" u="sng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</a:t>
            </a: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can be associated with one or more records in another table.</a:t>
            </a:r>
            <a:endParaRPr sz="1800"/>
          </a:p>
        </p:txBody>
      </p:sp>
      <p:pic>
        <p:nvPicPr>
          <p:cNvPr id="135" name="Google Shape;13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33800" y="900875"/>
            <a:ext cx="4314649" cy="2700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Many-to-many</a:t>
            </a:r>
            <a:endParaRPr/>
          </a:p>
        </p:txBody>
      </p:sp>
      <p:sp>
        <p:nvSpPr>
          <p:cNvPr id="141" name="Google Shape;141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Multiple </a:t>
            </a:r>
            <a:r>
              <a:rPr lang="en" sz="1800" u="sng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records</a:t>
            </a: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 a </a:t>
            </a:r>
            <a:r>
              <a:rPr lang="en" sz="1800" u="sng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</a:t>
            </a:r>
            <a:r>
              <a:rPr lang="en" sz="180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are associated with multiple records in another table</a:t>
            </a:r>
            <a:endParaRPr sz="1800"/>
          </a:p>
        </p:txBody>
      </p:sp>
      <p:pic>
        <p:nvPicPr>
          <p:cNvPr id="142" name="Google Shape;14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7500" y="590700"/>
            <a:ext cx="4263325" cy="39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700" y="2308725"/>
            <a:ext cx="190500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0200" y="594100"/>
            <a:ext cx="190500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96725" y="927600"/>
            <a:ext cx="1905000" cy="138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1725" y="2308725"/>
            <a:ext cx="190500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700" y="152400"/>
            <a:ext cx="815469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725" y="152400"/>
            <a:ext cx="792255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50" y="319075"/>
            <a:ext cx="7970301" cy="450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non Equi Join</a:t>
            </a:r>
            <a:endParaRPr/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11700" y="1152475"/>
            <a:ext cx="8520600" cy="8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SQL non Equi Join use comparison operator instead of equal sign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like &gt;, &lt;, &lt;=, &gt;= along with conditions.</a:t>
            </a:r>
            <a:endParaRPr/>
          </a:p>
        </p:txBody>
      </p:sp>
      <p:pic>
        <p:nvPicPr>
          <p:cNvPr id="172" name="Google Shape;1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0763" y="2217625"/>
            <a:ext cx="4562475" cy="273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